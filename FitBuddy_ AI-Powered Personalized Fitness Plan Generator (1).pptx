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10.png"/><Relationship Id="rId11" Type="http://schemas.openxmlformats.org/officeDocument/2006/relationships/image" Target="../media/image-3-11.sv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90550" y="603568"/>
            <a:ext cx="228600" cy="38100"/>
          </a:xfrm>
          <a:prstGeom prst="roundRect">
            <a:avLst>
              <a:gd name="adj" fmla="val 300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86791" y="553560"/>
            <a:ext cx="1747838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+ WEB DEVELOPMENT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1145" y="833779"/>
            <a:ext cx="1552575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8"/>
              </a:lnSpc>
              <a:spcAft>
                <a:spcPts val="1050"/>
              </a:spcAft>
              <a:buNone/>
            </a:pPr>
            <a:r>
              <a:rPr lang="en-US" sz="27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FitBuddy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89399" y="1324873"/>
            <a:ext cx="2324100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8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Fitness Plan Generator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0550" y="1688383"/>
            <a:ext cx="3333750" cy="3714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8"/>
              </a:lnSpc>
              <a:spcBef>
                <a:spcPts val="1125"/>
              </a:spcBef>
              <a:buNone/>
            </a:pPr>
            <a:r>
              <a:rPr lang="en-US" sz="10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Personalized fitness planning, powered by Google Gemini and modern web technologies.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0854" y="2698271"/>
            <a:ext cx="3529013" cy="566738"/>
          </a:xfrm>
          <a:prstGeom prst="roundRect">
            <a:avLst>
              <a:gd name="adj" fmla="val 24405"/>
            </a:avLst>
          </a:prstGeom>
          <a:solidFill>
            <a:srgbClr val="EEF6F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2910204"/>
            <a:ext cx="142875" cy="14287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91473" y="2823048"/>
            <a:ext cx="2557463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personalization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91473" y="3003548"/>
            <a:ext cx="2557463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Plans shaped around individual goals and needs.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90854" y="3425984"/>
            <a:ext cx="3529013" cy="566738"/>
          </a:xfrm>
          <a:prstGeom prst="roundRect">
            <a:avLst>
              <a:gd name="adj" fmla="val 24405"/>
            </a:avLst>
          </a:prstGeom>
          <a:solidFill>
            <a:srgbClr val="F0FDF4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3637913"/>
            <a:ext cx="142875" cy="14287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90904" y="3550762"/>
            <a:ext cx="2976562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for action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990904" y="3731257"/>
            <a:ext cx="297656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clear bridge from intelligent advice to daily movement.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590550" y="4371817"/>
            <a:ext cx="247650" cy="247650"/>
          </a:xfrm>
          <a:prstGeom prst="ellipse">
            <a:avLst/>
          </a:prstGeom>
          <a:solidFill>
            <a:srgbClr val="0F17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KV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923568" y="4364672"/>
            <a:ext cx="1652587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Developed by Kartheesan V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923568" y="4513259"/>
            <a:ext cx="1652587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Gemini · Web technologies</a:t>
            </a:r>
            <a:endParaRPr lang="en-US" sz="7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F172A">
              <a:alpha val="16000"/>
            </a:srgbClr>
          </a:solidFill>
          <a:ln/>
        </p:spPr>
      </p:sp>
      <p:sp>
        <p:nvSpPr>
          <p:cNvPr id="23" name="Shape 18"/>
          <p:cNvSpPr/>
          <p:nvPr/>
        </p:nvSpPr>
        <p:spPr>
          <a:xfrm>
            <a:off x="5373039" y="4494846"/>
            <a:ext cx="2200275" cy="276225"/>
          </a:xfrm>
          <a:prstGeom prst="roundRect">
            <a:avLst>
              <a:gd name="adj" fmla="val 19976"/>
            </a:avLst>
          </a:prstGeom>
          <a:solidFill>
            <a:srgbClr val="FFFFFF">
              <a:alpha val="92000"/>
            </a:srgbClr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6875" y="4573428"/>
            <a:ext cx="119062" cy="11906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663552" y="4571046"/>
            <a:ext cx="1804988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Intelligence that moves with you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4014773" y="370999"/>
            <a:ext cx="111442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235869" y="595404"/>
            <a:ext cx="6672263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4"/>
              </a:lnSpc>
              <a:spcBef>
                <a:spcPts val="675"/>
              </a:spcBef>
              <a:buNone/>
            </a:pPr>
            <a:r>
              <a:rPr lang="en-US" sz="25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Personal training, intelligently simplified.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2000250" y="1059362"/>
            <a:ext cx="5143500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spcBef>
                <a:spcPts val="900"/>
              </a:spcBef>
              <a:buNone/>
            </a:pPr>
            <a:r>
              <a:rPr lang="en-US" sz="12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AI web app that turns individual goals into practical, personalized workout plans.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95500" y="2041630"/>
            <a:ext cx="4953000" cy="647700"/>
          </a:xfrm>
          <a:prstGeom prst="roundRect">
            <a:avLst>
              <a:gd name="adj" fmla="val 228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42875" dist="57150" dir="5400000">
              <a:srgbClr val="0F172A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0" y="2227366"/>
            <a:ext cx="276225" cy="276225"/>
          </a:xfrm>
          <a:prstGeom prst="roundRect">
            <a:avLst>
              <a:gd name="adj" fmla="val 22830"/>
            </a:avLst>
          </a:prstGeom>
          <a:solidFill>
            <a:srgbClr val="EEF6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2675" y="2294041"/>
            <a:ext cx="142875" cy="14287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696435" y="2179504"/>
            <a:ext cx="4357688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Adapts to your goals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696435" y="2384530"/>
            <a:ext cx="435768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Plans respond to your requirements, preferences, and fitness priorities.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095500" y="2813629"/>
            <a:ext cx="4953000" cy="647700"/>
          </a:xfrm>
          <a:prstGeom prst="roundRect">
            <a:avLst>
              <a:gd name="adj" fmla="val 228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42875" dist="57150" dir="5400000">
              <a:srgbClr val="0F172A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286000" y="2999370"/>
            <a:ext cx="276225" cy="276225"/>
          </a:xfrm>
          <a:prstGeom prst="roundRect">
            <a:avLst>
              <a:gd name="adj" fmla="val 22830"/>
            </a:avLst>
          </a:prstGeom>
          <a:solidFill>
            <a:srgbClr val="F0FDF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3066045"/>
            <a:ext cx="142875" cy="14287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94689" y="2951504"/>
            <a:ext cx="3709987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Builds structured routines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694689" y="3156529"/>
            <a:ext cx="3709987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Move from intention to a clear, organized workout schedule.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2095500" y="3585633"/>
            <a:ext cx="4953000" cy="647700"/>
          </a:xfrm>
          <a:prstGeom prst="roundRect">
            <a:avLst>
              <a:gd name="adj" fmla="val 228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42875" dist="57150" dir="5400000">
              <a:srgbClr val="0F172A">
                <a:alpha val="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286000" y="3771370"/>
            <a:ext cx="276225" cy="276225"/>
          </a:xfrm>
          <a:prstGeom prst="roundRect">
            <a:avLst>
              <a:gd name="adj" fmla="val 22830"/>
            </a:avLst>
          </a:prstGeom>
          <a:solidFill>
            <a:srgbClr val="EEF6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2675" y="3838045"/>
            <a:ext cx="142875" cy="14287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694742" y="3723508"/>
            <a:ext cx="4138612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Keeps fitness simple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2694742" y="3928533"/>
            <a:ext cx="4138612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user-friendly interface makes every next step easy to understand.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2095500" y="4462646"/>
            <a:ext cx="4953000" cy="357188"/>
          </a:xfrm>
          <a:prstGeom prst="roundRect">
            <a:avLst>
              <a:gd name="adj" fmla="val 15360"/>
            </a:avLst>
          </a:prstGeom>
          <a:solidFill>
            <a:srgbClr val="EAF7F0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5666" y="4584090"/>
            <a:ext cx="114300" cy="1143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605213" y="4567421"/>
            <a:ext cx="2124075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1665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goals in. A focused routine out.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42913"/>
            <a:ext cx="200025" cy="28575"/>
          </a:xfrm>
          <a:prstGeom prst="roundRect">
            <a:avLst>
              <a:gd name="adj" fmla="val 400000"/>
            </a:avLst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723900" y="386714"/>
            <a:ext cx="2332434" cy="13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FitBuddy · Problem Statement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10645"/>
            <a:ext cx="8229600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workout plan should fit the person.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57200" y="1026978"/>
            <a:ext cx="5334000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Beginners are left choosing between generic guidance and costly expertise.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61766"/>
            <a:ext cx="4000500" cy="2105025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85725" dir="5400000">
              <a:srgbClr val="0F172A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04850" y="2225462"/>
            <a:ext cx="304800" cy="304800"/>
          </a:xfrm>
          <a:prstGeom prst="roundRect">
            <a:avLst>
              <a:gd name="adj" fmla="val 21094"/>
            </a:avLst>
          </a:prstGeom>
          <a:solidFill>
            <a:srgbClr val="EEF6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288" y="2296899"/>
            <a:ext cx="161925" cy="16192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04874" y="2179743"/>
            <a:ext cx="2033587" cy="2095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9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Today’s friction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04874" y="2427154"/>
            <a:ext cx="2033587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path to starting feels uncertain.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2844005"/>
            <a:ext cx="142875" cy="1428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53598" y="2829718"/>
            <a:ext cx="3176587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Beginners struggle to create workout plans.</a:t>
            </a:r>
            <a:endParaRPr lang="en-US" sz="11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" y="3191668"/>
            <a:ext cx="142875" cy="14287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53638" y="3177380"/>
            <a:ext cx="2762250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Generic plans ignore individual needs.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704850" y="3589946"/>
            <a:ext cx="3505200" cy="2571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spcBef>
                <a:spcPts val="1575"/>
              </a:spcBef>
              <a:buNone/>
            </a:pPr>
            <a:r>
              <a:rPr lang="en-US" sz="8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One-size-fits-all advice creates doubt before progress begins.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4686300" y="1961766"/>
            <a:ext cx="4000500" cy="2105025"/>
          </a:xfrm>
          <a:prstGeom prst="roundRect">
            <a:avLst>
              <a:gd name="adj" fmla="val 2752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90500" dist="85725" dir="5400000">
              <a:srgbClr val="22C55E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933950" y="2225462"/>
            <a:ext cx="304800" cy="304800"/>
          </a:xfrm>
          <a:prstGeom prst="roundRect">
            <a:avLst>
              <a:gd name="adj" fmla="val 21094"/>
            </a:avLst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5388" y="2296899"/>
            <a:ext cx="161925" cy="1619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33339" y="2179743"/>
            <a:ext cx="2452688" cy="2095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9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users need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333339" y="2427154"/>
            <a:ext cx="2452688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Confidence without the complexity or cost.</a:t>
            </a:r>
            <a:endParaRPr lang="en-US" sz="9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3950" y="2844005"/>
            <a:ext cx="142875" cy="14287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80846" y="2829718"/>
            <a:ext cx="2543175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Personal trainers can be expensive.</a:t>
            </a:r>
            <a:endParaRPr lang="en-US" sz="11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3950" y="3191668"/>
            <a:ext cx="142875" cy="14287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182619" y="3177380"/>
            <a:ext cx="3038475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Users need an easy, personalized solution.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4933950" y="3589946"/>
            <a:ext cx="3505200" cy="2571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spcBef>
                <a:spcPts val="1575"/>
              </a:spcBef>
              <a:buNone/>
            </a:pPr>
            <a:r>
              <a:rPr lang="en-US" sz="8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opportunity: make tailored guidance feel accessible.</a:t>
            </a:r>
            <a:endParaRPr lang="en-US" sz="800" dirty="0"/>
          </a:p>
        </p:txBody>
      </p:sp>
      <p:sp>
        <p:nvSpPr>
          <p:cNvPr id="28" name="Shape 20"/>
          <p:cNvSpPr/>
          <p:nvPr/>
        </p:nvSpPr>
        <p:spPr>
          <a:xfrm>
            <a:off x="457200" y="4267200"/>
            <a:ext cx="8229600" cy="533400"/>
          </a:xfrm>
          <a:prstGeom prst="roundRect">
            <a:avLst>
              <a:gd name="adj" fmla="val 36735"/>
            </a:avLst>
          </a:prstGeom>
          <a:solidFill>
            <a:srgbClr val="2563EB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4452937"/>
            <a:ext cx="161925" cy="16192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04425" y="4443413"/>
            <a:ext cx="3605212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FitBuddy turns uncertainty into a clear next step.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6691588" y="4467225"/>
            <a:ext cx="1795462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00" dirty="0">
                <a:solidFill>
                  <a:srgbClr val="DBEA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Personalized · Simple · Actionable</a:t>
            </a:r>
            <a:endParaRPr lang="en-US" sz="8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4850" y="3589946"/>
            <a:ext cx="3505200" cy="257175"/>
          </a:xfrm>
          <a:prstGeom prst="rect">
            <a:avLst/>
          </a:prstGeom>
        </p:spPr>
      </p:pic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33950" y="3589946"/>
            <a:ext cx="3505200" cy="2571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Shape 2"/>
          <p:cNvSpPr/>
          <p:nvPr/>
        </p:nvSpPr>
        <p:spPr>
          <a:xfrm>
            <a:off x="438150" y="442913"/>
            <a:ext cx="200025" cy="28575"/>
          </a:xfrm>
          <a:prstGeom prst="roundRect">
            <a:avLst>
              <a:gd name="adj" fmla="val 400000"/>
            </a:avLst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704850" y="386714"/>
            <a:ext cx="1185411" cy="13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vision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8150" y="620170"/>
            <a:ext cx="8267700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Objectives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38150" y="1046031"/>
            <a:ext cx="5334000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a smarter fitness experience that turns personal inputs into practical, responsive training plans.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150" y="2066541"/>
            <a:ext cx="2628900" cy="2733675"/>
          </a:xfrm>
          <a:prstGeom prst="roundRect">
            <a:avLst>
              <a:gd name="adj" fmla="val 17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9550" dist="85725" dir="5400000">
              <a:srgbClr val="0F172A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8175" y="2298355"/>
            <a:ext cx="342900" cy="342900"/>
          </a:xfrm>
          <a:prstGeom prst="roundRect">
            <a:avLst>
              <a:gd name="adj" fmla="val 18519"/>
            </a:avLst>
          </a:prstGeom>
          <a:solidFill>
            <a:srgbClr val="EEF6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8663" y="2388843"/>
            <a:ext cx="161925" cy="16192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6836" y="2391224"/>
            <a:ext cx="119062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38175" y="2746030"/>
            <a:ext cx="222885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0"/>
          <p:cNvSpPr/>
          <p:nvPr/>
        </p:nvSpPr>
        <p:spPr>
          <a:xfrm>
            <a:off x="638175" y="2861283"/>
            <a:ext cx="2228850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2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Plan Generation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38175" y="3143262"/>
            <a:ext cx="2228850" cy="547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8"/>
              </a:lnSpc>
              <a:spcBef>
                <a:spcPts val="675"/>
              </a:spcBef>
              <a:buNone/>
            </a:pPr>
            <a:r>
              <a:rPr lang="en-US" sz="10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tailored workout plans with an AI engine designed around each person’s needs.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4488180"/>
            <a:ext cx="114300" cy="1143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09625" y="4474420"/>
            <a:ext cx="1479259" cy="13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0"/>
              </a:lnSpc>
              <a:spcBef>
                <a:spcPts val="4867"/>
              </a:spcBef>
              <a:buNone/>
            </a:pPr>
            <a:r>
              <a:rPr lang="en-US" sz="9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recommendations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257550" y="2066541"/>
            <a:ext cx="2628900" cy="2733675"/>
          </a:xfrm>
          <a:prstGeom prst="roundRect">
            <a:avLst>
              <a:gd name="adj" fmla="val 1764"/>
            </a:avLst>
          </a:prstGeom>
          <a:solidFill>
            <a:srgbClr val="F0FDF4"/>
          </a:solidFill>
          <a:ln/>
          <a:effectLst>
            <a:outerShdw sx="100000" sy="100000" kx="0" ky="0" algn="bl" rotWithShape="0" blurRad="209550" dist="85725" dir="5400000">
              <a:srgbClr val="0F172A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457575" y="2298355"/>
            <a:ext cx="342900" cy="342900"/>
          </a:xfrm>
          <a:prstGeom prst="roundRect">
            <a:avLst>
              <a:gd name="adj" fmla="val 18519"/>
            </a:avLst>
          </a:prstGeom>
          <a:solidFill>
            <a:srgbClr val="DCFCE7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063" y="2388843"/>
            <a:ext cx="161925" cy="16192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543958" y="2391224"/>
            <a:ext cx="142875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3457575" y="2746030"/>
            <a:ext cx="2228850" cy="9525"/>
          </a:xfrm>
          <a:prstGeom prst="rect">
            <a:avLst/>
          </a:prstGeom>
          <a:solidFill>
            <a:srgbClr val="BBF7D0"/>
          </a:solidFill>
          <a:ln/>
        </p:spPr>
      </p:sp>
      <p:sp>
        <p:nvSpPr>
          <p:cNvPr id="22" name="Text 17"/>
          <p:cNvSpPr/>
          <p:nvPr/>
        </p:nvSpPr>
        <p:spPr>
          <a:xfrm>
            <a:off x="3457575" y="2861283"/>
            <a:ext cx="2228850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2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Personalized Inputs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3457575" y="3143262"/>
            <a:ext cx="2228850" cy="547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8"/>
              </a:lnSpc>
              <a:spcBef>
                <a:spcPts val="675"/>
              </a:spcBef>
              <a:buNone/>
            </a:pPr>
            <a:r>
              <a:rPr lang="en-US" sz="10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Capture goals, age, fitness level, and available equipment to make every plan relevant.</a:t>
            </a:r>
            <a:endParaRPr lang="en-US" sz="10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7575" y="4488180"/>
            <a:ext cx="114300" cy="1143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629025" y="4474420"/>
            <a:ext cx="1158134" cy="13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0"/>
              </a:lnSpc>
              <a:spcBef>
                <a:spcPts val="4867"/>
              </a:spcBef>
              <a:buNone/>
            </a:pPr>
            <a:r>
              <a:rPr lang="en-US" sz="900" b="1" dirty="0">
                <a:solidFill>
                  <a:srgbClr val="1580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Goals-first planning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6076950" y="2066541"/>
            <a:ext cx="2628900" cy="2733675"/>
          </a:xfrm>
          <a:prstGeom prst="roundRect">
            <a:avLst>
              <a:gd name="adj" fmla="val 17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9550" dist="85725" dir="5400000">
              <a:srgbClr val="0F172A">
                <a:alpha val="7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276975" y="2298355"/>
            <a:ext cx="342900" cy="342900"/>
          </a:xfrm>
          <a:prstGeom prst="roundRect">
            <a:avLst>
              <a:gd name="adj" fmla="val 18519"/>
            </a:avLst>
          </a:prstGeom>
          <a:solidFill>
            <a:srgbClr val="ECFEFF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7462" y="2388843"/>
            <a:ext cx="161925" cy="16192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363570" y="2391224"/>
            <a:ext cx="142875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0891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6276975" y="2746030"/>
            <a:ext cx="2228850" cy="9525"/>
          </a:xfrm>
          <a:prstGeom prst="rect">
            <a:avLst/>
          </a:prstGeom>
          <a:solidFill>
            <a:srgbClr val="CFFAFE"/>
          </a:solidFill>
          <a:ln/>
        </p:spPr>
      </p:sp>
      <p:sp>
        <p:nvSpPr>
          <p:cNvPr id="31" name="Text 24"/>
          <p:cNvSpPr/>
          <p:nvPr/>
        </p:nvSpPr>
        <p:spPr>
          <a:xfrm>
            <a:off x="6276975" y="2861283"/>
            <a:ext cx="2228850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2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Responsive Web App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6276975" y="3144069"/>
            <a:ext cx="2228850" cy="728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8"/>
              </a:lnSpc>
              <a:spcBef>
                <a:spcPts val="675"/>
              </a:spcBef>
              <a:buNone/>
            </a:pPr>
            <a:r>
              <a:rPr lang="en-US" sz="10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 a clear, flexible experience that works smoothly across screens and everyday training contexts.</a:t>
            </a:r>
            <a:endParaRPr lang="en-US" sz="100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6975" y="4488180"/>
            <a:ext cx="114300" cy="1143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448425" y="4474420"/>
            <a:ext cx="1603456" cy="13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0"/>
              </a:lnSpc>
              <a:spcBef>
                <a:spcPts val="3429"/>
              </a:spcBef>
              <a:buNone/>
            </a:pPr>
            <a:r>
              <a:rPr lang="en-US" sz="900" b="1" dirty="0">
                <a:solidFill>
                  <a:srgbClr val="0E74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Ready wherever users train</a:t>
            </a:r>
            <a:endParaRPr lang="en-US" sz="90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8150" y="2066541"/>
            <a:ext cx="2628900" cy="2733675"/>
          </a:xfrm>
          <a:prstGeom prst="rect">
            <a:avLst/>
          </a:prstGeom>
        </p:spPr>
      </p:pic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57550" y="2066541"/>
            <a:ext cx="2628900" cy="2733675"/>
          </a:xfrm>
          <a:prstGeom prst="rect">
            <a:avLst/>
          </a:prstGeom>
        </p:spPr>
      </p:pic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76950" y="2066541"/>
            <a:ext cx="2628900" cy="27336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438150" y="370999"/>
            <a:ext cx="82677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8150" y="576354"/>
            <a:ext cx="8267700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Technologies Used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38150" y="992690"/>
            <a:ext cx="4667250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focused stack connecting the user experience, application logic, and AI generation.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7952" y="1975577"/>
            <a:ext cx="4743450" cy="2205037"/>
          </a:xfrm>
          <a:prstGeom prst="roundRect">
            <a:avLst>
              <a:gd name="adj" fmla="val 25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76200" dir="5400000">
              <a:srgbClr val="0F172A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2250704"/>
            <a:ext cx="295275" cy="295275"/>
          </a:xfrm>
          <a:prstGeom prst="roundRect">
            <a:avLst>
              <a:gd name="adj" fmla="val 22477"/>
            </a:avLst>
          </a:prstGeom>
          <a:solidFill>
            <a:srgbClr val="EEF6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237" y="2322142"/>
            <a:ext cx="152400" cy="152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67647" y="2202602"/>
            <a:ext cx="2652713" cy="2095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9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 Layer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67647" y="2445253"/>
            <a:ext cx="2652713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product experience and server foundation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69577"/>
            <a:ext cx="128588" cy="1285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99226" y="2755885"/>
            <a:ext cx="276225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HTML + CSS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99226" y="2955910"/>
            <a:ext cx="2762250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Structure, styling, and responsive presentation</a:t>
            </a:r>
            <a:endParaRPr lang="en-US" sz="9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55352"/>
            <a:ext cx="128588" cy="1285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0589" y="3241660"/>
            <a:ext cx="2605087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JavaScript + Node.js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900589" y="3441685"/>
            <a:ext cx="2605087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 interactions and backend support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685602" y="3929063"/>
            <a:ext cx="4248150" cy="23812"/>
          </a:xfrm>
          <a:prstGeom prst="roundRect">
            <a:avLst>
              <a:gd name="adj" fmla="val 480010"/>
            </a:avLst>
          </a:prstGeom>
          <a:solidFill>
            <a:srgbClr val="2563EB"/>
          </a:solidFill>
          <a:ln/>
        </p:spPr>
      </p:sp>
      <p:sp>
        <p:nvSpPr>
          <p:cNvPr id="19" name="Shape 14"/>
          <p:cNvSpPr/>
          <p:nvPr/>
        </p:nvSpPr>
        <p:spPr>
          <a:xfrm>
            <a:off x="5409985" y="1975577"/>
            <a:ext cx="3295650" cy="2205037"/>
          </a:xfrm>
          <a:prstGeom prst="roundRect">
            <a:avLst>
              <a:gd name="adj" fmla="val 2508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71450" dist="76200" dir="5400000">
              <a:srgbClr val="0F172A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657450" y="2325000"/>
            <a:ext cx="295275" cy="295275"/>
          </a:xfrm>
          <a:prstGeom prst="roundRect">
            <a:avLst>
              <a:gd name="adj" fmla="val 22477"/>
            </a:avLst>
          </a:prstGeom>
          <a:solidFill>
            <a:srgbClr val="DCFCE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8888" y="2396437"/>
            <a:ext cx="152400" cy="1524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038635" y="2202602"/>
            <a:ext cx="2419350" cy="2095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9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Generation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038635" y="2445729"/>
            <a:ext cx="2419350" cy="2952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Intelligence that powers personalized output</a:t>
            </a:r>
            <a:endParaRPr lang="en-US" sz="9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7450" y="2918168"/>
            <a:ext cx="128588" cy="12858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871948" y="2904476"/>
            <a:ext cx="2586038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Gemini API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5871948" y="3103906"/>
            <a:ext cx="2586038" cy="3238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generation integrated into the product flow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5657635" y="3929063"/>
            <a:ext cx="2800350" cy="23812"/>
          </a:xfrm>
          <a:prstGeom prst="roundRect">
            <a:avLst>
              <a:gd name="adj" fmla="val 480010"/>
            </a:avLst>
          </a:prstGeom>
          <a:solidFill>
            <a:srgbClr val="22C55E"/>
          </a:solidFill>
          <a:ln/>
        </p:spPr>
      </p:sp>
      <p:sp>
        <p:nvSpPr>
          <p:cNvPr id="28" name="Shape 21"/>
          <p:cNvSpPr/>
          <p:nvPr/>
        </p:nvSpPr>
        <p:spPr>
          <a:xfrm>
            <a:off x="438137" y="4381500"/>
            <a:ext cx="8267700" cy="419100"/>
          </a:xfrm>
          <a:prstGeom prst="roundRect">
            <a:avLst>
              <a:gd name="adj" fmla="val 13636"/>
            </a:avLst>
          </a:prstGeom>
          <a:solidFill>
            <a:srgbClr val="0F172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75" y="4524375"/>
            <a:ext cx="133350" cy="13335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19732" y="4507705"/>
            <a:ext cx="657701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Together, the stack turns clean interfaces and reliable services into an AI-powered fitness experience.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438150" y="370999"/>
            <a:ext cx="82677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WORKFLOW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7052" y="790483"/>
            <a:ext cx="5772150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fitness goals to a smarter plan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93855" y="576262"/>
            <a:ext cx="2524125" cy="538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Aft>
                <a:spcPts val="188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connected workflow turns personal inputs into an AI-generated workout plan.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150" y="1710212"/>
            <a:ext cx="8267700" cy="3090862"/>
          </a:xfrm>
          <a:prstGeom prst="roundRect">
            <a:avLst>
              <a:gd name="adj" fmla="val 1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14313" dist="85725" dir="5400000">
              <a:srgbClr val="0F172A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4703" y="1978341"/>
            <a:ext cx="3471863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seamless path to personalization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4703" y="2208848"/>
            <a:ext cx="3471863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375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handoff adds context until the final plan is ready to use.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048579" y="2048352"/>
            <a:ext cx="1400175" cy="242888"/>
          </a:xfrm>
          <a:prstGeom prst="roundRect">
            <a:avLst>
              <a:gd name="adj" fmla="val 47059"/>
            </a:avLst>
          </a:prstGeom>
          <a:solidFill>
            <a:srgbClr val="F0FDF4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3908" y="2115027"/>
            <a:ext cx="109537" cy="10953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310596" y="2103860"/>
            <a:ext cx="1042829" cy="128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25"/>
              </a:lnSpc>
              <a:buNone/>
            </a:pPr>
            <a:r>
              <a:rPr lang="en-US" sz="800" b="1" dirty="0">
                <a:solidFill>
                  <a:srgbClr val="15803D"/>
                </a:solidFill>
                <a:highlight>
                  <a:srgbClr val="F0FDF4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AI-assisted delivery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94134" y="2610802"/>
            <a:ext cx="1562100" cy="1781175"/>
          </a:xfrm>
          <a:prstGeom prst="roundRect">
            <a:avLst>
              <a:gd name="adj" fmla="val 3926"/>
            </a:avLst>
          </a:prstGeom>
          <a:solidFill>
            <a:srgbClr val="EEF6FF"/>
          </a:solidFill>
          <a:ln/>
        </p:spPr>
      </p:sp>
      <p:sp>
        <p:nvSpPr>
          <p:cNvPr id="14" name="Shape 11"/>
          <p:cNvSpPr/>
          <p:nvPr/>
        </p:nvSpPr>
        <p:spPr>
          <a:xfrm>
            <a:off x="838200" y="2771775"/>
            <a:ext cx="276225" cy="276225"/>
          </a:xfrm>
          <a:prstGeom prst="roundRect">
            <a:avLst>
              <a:gd name="adj" fmla="val 24257"/>
            </a:avLst>
          </a:prstGeom>
          <a:solidFill>
            <a:srgbClr val="2563E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256" y="2840831"/>
            <a:ext cx="138113" cy="13811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001505" y="2857500"/>
            <a:ext cx="109537" cy="104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837009" y="3152775"/>
            <a:ext cx="127635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input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837009" y="3428524"/>
            <a:ext cx="1276350" cy="481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Fitness details and goals enter the experience.</a:t>
            </a:r>
            <a:endParaRPr lang="en-US" sz="9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3638" y="3427571"/>
            <a:ext cx="147637" cy="147637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2758678" y="2610802"/>
            <a:ext cx="1562100" cy="1781175"/>
          </a:xfrm>
          <a:prstGeom prst="roundRect">
            <a:avLst>
              <a:gd name="adj" fmla="val 3926"/>
            </a:avLst>
          </a:prstGeom>
          <a:solidFill>
            <a:srgbClr val="F8FAFC"/>
          </a:solidFill>
          <a:ln/>
        </p:spPr>
      </p:sp>
      <p:sp>
        <p:nvSpPr>
          <p:cNvPr id="21" name="Shape 16"/>
          <p:cNvSpPr/>
          <p:nvPr/>
        </p:nvSpPr>
        <p:spPr>
          <a:xfrm>
            <a:off x="2902744" y="2771775"/>
            <a:ext cx="276225" cy="276225"/>
          </a:xfrm>
          <a:prstGeom prst="roundRect">
            <a:avLst>
              <a:gd name="adj" fmla="val 24257"/>
            </a:avLst>
          </a:prstGeom>
          <a:solidFill>
            <a:srgbClr val="06B6D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2840831"/>
            <a:ext cx="138113" cy="13811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043771" y="2857500"/>
            <a:ext cx="133350" cy="104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00" b="1" dirty="0">
                <a:solidFill>
                  <a:srgbClr val="0891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2901553" y="3152775"/>
            <a:ext cx="127635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handoff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2901553" y="3428524"/>
            <a:ext cx="1276350" cy="481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frontend sends structured input to the backend.</a:t>
            </a:r>
            <a:endParaRPr lang="en-US" sz="9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181" y="3427571"/>
            <a:ext cx="147637" cy="147637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4823222" y="2610802"/>
            <a:ext cx="1562100" cy="1781175"/>
          </a:xfrm>
          <a:prstGeom prst="roundRect">
            <a:avLst>
              <a:gd name="adj" fmla="val 3926"/>
            </a:avLst>
          </a:prstGeom>
          <a:solidFill>
            <a:srgbClr val="F0FDF4"/>
          </a:solidFill>
          <a:ln/>
        </p:spPr>
      </p:sp>
      <p:sp>
        <p:nvSpPr>
          <p:cNvPr id="28" name="Shape 21"/>
          <p:cNvSpPr/>
          <p:nvPr/>
        </p:nvSpPr>
        <p:spPr>
          <a:xfrm>
            <a:off x="4967287" y="2771775"/>
            <a:ext cx="276225" cy="276225"/>
          </a:xfrm>
          <a:prstGeom prst="roundRect">
            <a:avLst>
              <a:gd name="adj" fmla="val 24257"/>
            </a:avLst>
          </a:prstGeom>
          <a:solidFill>
            <a:srgbClr val="22C55E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6344" y="2840831"/>
            <a:ext cx="138113" cy="138113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108526" y="2857500"/>
            <a:ext cx="133350" cy="104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800" dirty="0"/>
          </a:p>
        </p:txBody>
      </p:sp>
      <p:sp>
        <p:nvSpPr>
          <p:cNvPr id="31" name="Text 23"/>
          <p:cNvSpPr/>
          <p:nvPr/>
        </p:nvSpPr>
        <p:spPr>
          <a:xfrm>
            <a:off x="4966097" y="3152775"/>
            <a:ext cx="1276350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Gemini reasoning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4966097" y="3601403"/>
            <a:ext cx="1276350" cy="6381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Gemini interprets the request and builds the response.</a:t>
            </a:r>
            <a:endParaRPr lang="en-US" sz="9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2725" y="3427571"/>
            <a:ext cx="147637" cy="147637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6887766" y="2610802"/>
            <a:ext cx="1562100" cy="1781175"/>
          </a:xfrm>
          <a:prstGeom prst="roundRect">
            <a:avLst>
              <a:gd name="adj" fmla="val 3926"/>
            </a:avLst>
          </a:prstGeom>
          <a:solidFill>
            <a:srgbClr val="FFF7ED"/>
          </a:solidFill>
          <a:ln/>
        </p:spPr>
      </p:sp>
      <p:sp>
        <p:nvSpPr>
          <p:cNvPr id="35" name="Shape 26"/>
          <p:cNvSpPr/>
          <p:nvPr/>
        </p:nvSpPr>
        <p:spPr>
          <a:xfrm>
            <a:off x="7031831" y="2771775"/>
            <a:ext cx="276225" cy="276225"/>
          </a:xfrm>
          <a:prstGeom prst="roundRect">
            <a:avLst>
              <a:gd name="adj" fmla="val 24257"/>
            </a:avLst>
          </a:prstGeom>
          <a:solidFill>
            <a:srgbClr val="F59E0B"/>
          </a:solidFill>
          <a:ln/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0888" y="2840831"/>
            <a:ext cx="138113" cy="138113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8162713" y="2857500"/>
            <a:ext cx="142875" cy="104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800" b="1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800" dirty="0"/>
          </a:p>
        </p:txBody>
      </p:sp>
      <p:sp>
        <p:nvSpPr>
          <p:cNvPr id="38" name="Text 28"/>
          <p:cNvSpPr/>
          <p:nvPr/>
        </p:nvSpPr>
        <p:spPr>
          <a:xfrm>
            <a:off x="7030641" y="3152775"/>
            <a:ext cx="127635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Workout output</a:t>
            </a:r>
            <a:endParaRPr lang="en-US" sz="1100" dirty="0"/>
          </a:p>
        </p:txBody>
      </p:sp>
      <p:sp>
        <p:nvSpPr>
          <p:cNvPr id="39" name="Text 29"/>
          <p:cNvSpPr/>
          <p:nvPr/>
        </p:nvSpPr>
        <p:spPr>
          <a:xfrm>
            <a:off x="7030641" y="3428524"/>
            <a:ext cx="1276350" cy="481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tailored workout plan is generated and displayed.</a:t>
            </a:r>
            <a:endParaRPr lang="en-US" sz="900" dirty="0"/>
          </a:p>
        </p:txBody>
      </p:sp>
      <p:sp>
        <p:nvSpPr>
          <p:cNvPr id="40" name="Shape 30"/>
          <p:cNvSpPr/>
          <p:nvPr/>
        </p:nvSpPr>
        <p:spPr>
          <a:xfrm>
            <a:off x="695325" y="4703921"/>
            <a:ext cx="47625" cy="47625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1" name="Text 31"/>
          <p:cNvSpPr/>
          <p:nvPr/>
        </p:nvSpPr>
        <p:spPr>
          <a:xfrm>
            <a:off x="810339" y="4658677"/>
            <a:ext cx="3938587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system keeps the user at the center while AI handles the complexity.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25767"/>
            <a:ext cx="209550" cy="28575"/>
          </a:xfrm>
          <a:prstGeom prst="roundRect">
            <a:avLst>
              <a:gd name="adj" fmla="val 40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733901" y="370999"/>
            <a:ext cx="2871788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 &amp; FUTURE ENHANCEMENTS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068"/>
            <a:ext cx="8229600" cy="7000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personalized workouts to a complete fitness platform.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57200" y="1399593"/>
            <a:ext cx="5619750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825"/>
              </a:spcBef>
              <a:buNone/>
            </a:pPr>
            <a:r>
              <a:rPr lang="en-US" sz="12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FitBuddy turns intelligent recommendations into a foundation for sustained progress.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99306"/>
            <a:ext cx="5410200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1275"/>
              </a:spcAft>
              <a:buNone/>
            </a:pPr>
            <a:r>
              <a:rPr lang="en-US" sz="9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FitBuddy establishes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809346"/>
            <a:ext cx="257175" cy="257175"/>
          </a:xfrm>
          <a:prstGeom prst="roundRect">
            <a:avLst>
              <a:gd name="adj" fmla="val 26337"/>
            </a:avLst>
          </a:prstGeom>
          <a:solidFill>
            <a:srgbClr val="EEF6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113" y="2871258"/>
            <a:ext cx="133350" cy="1333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8993" y="2818395"/>
            <a:ext cx="3805237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Personalized by design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8993" y="3050566"/>
            <a:ext cx="3805237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workout plans shaped around each user’s goals and needs.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3392752"/>
            <a:ext cx="257175" cy="257175"/>
          </a:xfrm>
          <a:prstGeom prst="roundRect">
            <a:avLst>
              <a:gd name="adj" fmla="val 26337"/>
            </a:avLst>
          </a:prstGeom>
          <a:solidFill>
            <a:srgbClr val="F0FDF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13" y="3454665"/>
            <a:ext cx="133350" cy="1333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29839" y="3401801"/>
            <a:ext cx="3500438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to become a platform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29839" y="3633972"/>
            <a:ext cx="3500438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smart starting point for connected fitness experiences.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57200" y="3976158"/>
            <a:ext cx="257175" cy="257175"/>
          </a:xfrm>
          <a:prstGeom prst="roundRect">
            <a:avLst>
              <a:gd name="adj" fmla="val 26337"/>
            </a:avLst>
          </a:prstGeom>
          <a:solidFill>
            <a:srgbClr val="EEF6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113" y="4038071"/>
            <a:ext cx="133350" cy="1333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7749" y="3985207"/>
            <a:ext cx="4305300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Ready for the next layer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27749" y="4217378"/>
            <a:ext cx="43053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enhancements: progress tracking, nutrition, and a mobile app.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6210300" y="2152835"/>
            <a:ext cx="2476500" cy="2647950"/>
          </a:xfrm>
          <a:prstGeom prst="roundRect">
            <a:avLst>
              <a:gd name="adj" fmla="val 198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90500" dist="85725" dir="5400000">
              <a:srgbClr val="0F172A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19850" y="2381620"/>
            <a:ext cx="276225" cy="276225"/>
          </a:xfrm>
          <a:prstGeom prst="roundRect">
            <a:avLst>
              <a:gd name="adj" fmla="val 25684"/>
            </a:avLst>
          </a:prstGeom>
          <a:solidFill>
            <a:srgbClr val="2563E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525" y="2448295"/>
            <a:ext cx="142875" cy="14287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419850" y="2819386"/>
            <a:ext cx="2057400" cy="214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2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vision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6419850" y="3139042"/>
            <a:ext cx="2057400" cy="7715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spcBef>
                <a:spcPts val="825"/>
              </a:spcBef>
              <a:buNone/>
            </a:pPr>
            <a:r>
              <a:rPr lang="en-US" sz="10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Make effective fitness guidance feel personal, accessible, and continuously smarter.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6419850" y="4299796"/>
            <a:ext cx="2057400" cy="271463"/>
          </a:xfrm>
          <a:prstGeom prst="rect">
            <a:avLst/>
          </a:prstGeom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850" y="4441984"/>
            <a:ext cx="123825" cy="12382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609834" y="4434840"/>
            <a:ext cx="17907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b="1" dirty="0">
                <a:solidFill>
                  <a:srgbClr val="A7F3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step: expand the ecosystem</a:t>
            </a:r>
            <a:endParaRPr lang="en-US" sz="8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9850" y="4299796"/>
            <a:ext cx="2057400" cy="2714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2026-09-27T14:23:14Z</dcterms:created>
  <dcterms:modified xsi:type="dcterms:W3CDTF">2026-09-27T14:23:14Z</dcterms:modified>
</cp:coreProperties>
</file>